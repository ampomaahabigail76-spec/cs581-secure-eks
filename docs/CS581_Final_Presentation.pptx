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41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65F46">
              <a:alpha val="12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27432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384048"/>
            <a:ext cx="2926080" cy="27432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384048"/>
            <a:ext cx="4572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5F3FC"/>
                </a:solidFill>
              </a:rPr>
              <a:t>CS581  ·  CLOUD SECURITY  ·  SIGNATURE PROJECT  ·  SPRING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Cloud-Native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56032" y="14813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6032" y="215798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AWS EKS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6032" y="28895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Design · Implementation · Security Hardening of a Multi-Tier Fintech Application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3273552"/>
            <a:ext cx="41148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3310128"/>
            <a:ext cx="411480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34198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Student: </a:t>
            </a:r>
            <a:r>
              <a:rPr lang="en-US" sz="1200" dirty="0">
                <a:solidFill>
                  <a:srgbClr val="FFFFFF"/>
                </a:solidFill>
              </a:rPr>
              <a:t>Abigail Ampomaah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" y="36758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San Francisco Bay University  ·  CS581 Cloud Security  ·  April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4041648"/>
            <a:ext cx="73152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4041648"/>
            <a:ext cx="54864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4041648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cluster: cs581-secure-cluster  ·  us-east-1  ·  EKS v1.30  ·  account: 552823820626  ·  LIVE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on the cloud = high-value target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420624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68680"/>
            <a:ext cx="420624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6868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68680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FINTECH IS A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298448"/>
            <a:ext cx="4005072" cy="749808"/>
          </a:xfrm>
          <a:prstGeom prst="rect">
            <a:avLst/>
          </a:prstGeom>
          <a:solidFill>
            <a:srgbClr val="1E293B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1335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" y="133502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Sensitive financial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15727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PCI-DSS, SOC 2 — user PII and transaction records demand strong protection.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167128"/>
            <a:ext cx="4005072" cy="749808"/>
          </a:xfrm>
          <a:prstGeom prst="rect">
            <a:avLst/>
          </a:prstGeom>
          <a:solidFill>
            <a:srgbClr val="1E293B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203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" y="22037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Heavy compliance burden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" y="244144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Regulators expect auditable controls. A breach isn't just a loss — it's a fine.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035808"/>
            <a:ext cx="4005072" cy="749808"/>
          </a:xfrm>
          <a:prstGeom prst="rect">
            <a:avLst/>
          </a:prstGeom>
          <a:solidFill>
            <a:srgbClr val="1E293B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336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" y="30723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Containers expand attack surface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" y="33101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Orchestrators add layers attackers specifically target.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904488"/>
            <a:ext cx="4005072" cy="749808"/>
          </a:xfrm>
          <a:prstGeom prst="rect">
            <a:avLst/>
          </a:prstGeom>
          <a:solidFill>
            <a:srgbClr val="1E293B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" y="3941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" y="394106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Defaults are never secure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" y="41788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Security must be designed in from day one — never bolted on later.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1728" y="868680"/>
            <a:ext cx="420624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868680"/>
            <a:ext cx="4206240" cy="3291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81728" y="86868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868680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CONTAINER-ERA THREATS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73168" y="1316736"/>
            <a:ext cx="4005072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73168" y="1316736"/>
            <a:ext cx="4572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13441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Pod escape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1581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Break out of container → host node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73168" y="2011680"/>
            <a:ext cx="4005072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73168" y="2011680"/>
            <a:ext cx="4572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64608" y="2039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Privilege escalation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22768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Gain cluster-admin from a low-priv pod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73168" y="2706624"/>
            <a:ext cx="4005072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73168" y="2706624"/>
            <a:ext cx="4572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64608" y="27340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Lateral movement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64608" y="29718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Pivot between pods and AWS services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73168" y="3401568"/>
            <a:ext cx="4005072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73168" y="3401568"/>
            <a:ext cx="4572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64608" y="3429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Credential leakage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64608" y="3666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Static keys in images, env, or manifests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73168" y="4096512"/>
            <a:ext cx="4005072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73168" y="4096512"/>
            <a:ext cx="4572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64608" y="4123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</a:rPr>
              <a:t>Supply-chain attack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64608" y="43616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Poisoned base images or tag swaps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OUR APPROACH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seven independent layers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41248"/>
            <a:ext cx="54864" cy="5120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950976"/>
            <a:ext cx="292608" cy="292608"/>
          </a:xfrm>
          <a:prstGeom prst="ellipse">
            <a:avLst/>
          </a:prstGeom>
          <a:solidFill>
            <a:srgbClr val="06B6D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950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" y="914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Network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111556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VPC · Security Groups · NACLs · VPC Flow Logs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444752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1444752"/>
            <a:ext cx="54864" cy="5120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1554480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" y="15179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Identity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17190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IAM least privilege · RBAC · IRSA via OIDC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048256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048256"/>
            <a:ext cx="54864" cy="5120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157984"/>
            <a:ext cx="292608" cy="292608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157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23225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KMS at rest · TLS 1.3 in transit · Secrets Manager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651760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2651760"/>
            <a:ext cx="54864" cy="5120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2761488"/>
            <a:ext cx="292608" cy="292608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" y="27249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Container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" y="292608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Trivy scanning · minimal base images · immutable tags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255264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EC4899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032" y="3255264"/>
            <a:ext cx="54864" cy="5120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3364992"/>
            <a:ext cx="292608" cy="292608"/>
          </a:xfrm>
          <a:prstGeom prst="ellipse">
            <a:avLst/>
          </a:prstGeom>
          <a:solidFill>
            <a:srgbClr val="EC4899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33284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</a:rPr>
              <a:t>Runtime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8096" y="352958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Pod Security Standards · non-root · read-only FS · resource limits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858768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3858768"/>
            <a:ext cx="54864" cy="5120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06B6D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" y="3931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8096" y="413308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CloudWatch 5 log types · GuardDuty EKS · CloudTrail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462272"/>
            <a:ext cx="8631936" cy="512064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6032" y="4462272"/>
            <a:ext cx="54864" cy="5120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292608" cy="292608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68096" y="45354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Response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68096" y="473659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Documented runbook · SNS alarms · incident lifecycle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56032" y="504748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</a:rPr>
              <a:t>No single control catches every attack — each layer is independent. This is defense in depth.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VPC Architecture — private EKS, TLS-terminating ALB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4206240"/>
          </a:xfrm>
          <a:prstGeom prst="rect">
            <a:avLst/>
          </a:prstGeom>
          <a:solidFill>
            <a:srgbClr val="111827"/>
          </a:solidFill>
          <a:ln w="6350">
            <a:solidFill>
              <a:srgbClr val="065F46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59536"/>
            <a:ext cx="8558784" cy="4133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full technology stack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51960" cy="1417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4251960" cy="329184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22529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EKS + EC2 + VPC + IAM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47218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14356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KMS + Secrets Manager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1719072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16824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GuardDuty + CloudWatch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6596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19293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ECR (container registry)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18304" y="822960"/>
            <a:ext cx="4251960" cy="1417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18304" y="822960"/>
            <a:ext cx="4251960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18304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9744" y="8229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Terraform IaC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22529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92624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v1.14.8 · 5 modules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4721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92624" y="14356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51 resources deployed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719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92624" y="16824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EBS encryption default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9659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92624" y="19293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VPC + EKS + IAM + KMS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359152"/>
            <a:ext cx="4251960" cy="1417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6032" y="2359152"/>
            <a:ext cx="4251960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2359152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23591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2761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0352" y="27249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Version 1.30 (EKS)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048" y="30083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0352" y="2971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kubectl v1.35.3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" y="32552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0352" y="3218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eksctl v0.225.0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" y="350215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0352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Helm v4.1.3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18304" y="2359152"/>
            <a:ext cx="4251960" cy="1417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18304" y="2359152"/>
            <a:ext cx="4251960" cy="329184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18304" y="2359152"/>
            <a:ext cx="54864" cy="32918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9744" y="23591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76148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92624" y="27249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nginx-unprivileged (frontend)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00837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92624" y="2971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python:3.11-slim (backend)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25526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92624" y="32186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K8s Secrets (DB creds)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35021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92624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ClusterIP + LoadBalancer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3895344"/>
            <a:ext cx="4251960" cy="1417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56032" y="3895344"/>
            <a:ext cx="4251960" cy="329184"/>
          </a:xfrm>
          <a:prstGeom prst="rect">
            <a:avLst/>
          </a:prstGeom>
          <a:solidFill>
            <a:srgbClr val="EC4899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56032" y="3895344"/>
            <a:ext cx="54864" cy="32918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7472" y="3895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Tools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84048" y="4297680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30352" y="4261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Trivy vulnerability scan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84048" y="4544568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30352" y="45079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Pod Security Standards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4048" y="4791456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30352" y="4754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IRSA via OIDC provider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84048" y="5038344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30352" y="50017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Non-root containers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18304" y="3895344"/>
            <a:ext cx="4251960" cy="1417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718304" y="3895344"/>
            <a:ext cx="4251960" cy="329184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718304" y="3895344"/>
            <a:ext cx="54864" cy="32918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09744" y="3895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46320" y="4297680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992624" y="4261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CloudWatch 5 log types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46320" y="454456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992624" y="45079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18,575 audit records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846320" y="479145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992624" y="4754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GuardDuty EKS monitoring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846320" y="503834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992624" y="50017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835 MB logs stored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1 &amp;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infrastructure in one terraform apply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359152" cy="1280160"/>
          </a:xfrm>
          <a:prstGeom prst="rect">
            <a:avLst/>
          </a:prstGeom>
          <a:solidFill>
            <a:srgbClr val="111827"/>
          </a:solidFill>
          <a:ln w="10160">
            <a:solidFill>
              <a:srgbClr val="06B6D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914400"/>
            <a:ext cx="384048" cy="384048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1A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93268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VPC +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17043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Subnets · NAT · Flow Logs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61488" y="822960"/>
            <a:ext cx="2359152" cy="128016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852928" y="914400"/>
            <a:ext cx="384048" cy="384048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52928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1A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93268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IAM + IRSA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Cluster · node · persona roles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240280"/>
            <a:ext cx="2359152" cy="128016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2331720"/>
            <a:ext cx="384048" cy="384048"/>
          </a:xfrm>
          <a:prstGeom prst="ellipse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1A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235000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+ KMS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58775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SGs · NACLs · KMS key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61488" y="2240280"/>
            <a:ext cx="2359152" cy="1280160"/>
          </a:xfrm>
          <a:prstGeom prst="rect">
            <a:avLst/>
          </a:prstGeom>
          <a:solidFill>
            <a:srgbClr val="111827"/>
          </a:solidFill>
          <a:ln w="10160">
            <a:solidFill>
              <a:srgbClr val="8B5CF6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52928" y="2331720"/>
            <a:ext cx="384048" cy="384048"/>
          </a:xfrm>
          <a:prstGeom prst="ellipse">
            <a:avLst/>
          </a:prstGeom>
          <a:solidFill>
            <a:srgbClr val="8B5CF6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52928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1A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10128" y="235000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EKS Cluster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258775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Encrypted secrets · audit logs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657600"/>
            <a:ext cx="2359152" cy="1280160"/>
          </a:xfrm>
          <a:prstGeom prst="rect">
            <a:avLst/>
          </a:prstGeom>
          <a:solidFill>
            <a:srgbClr val="111827"/>
          </a:solidFill>
          <a:ln w="10160">
            <a:solidFill>
              <a:srgbClr val="EC4899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3749040"/>
            <a:ext cx="384048" cy="384048"/>
          </a:xfrm>
          <a:prstGeom prst="ellipse">
            <a:avLst/>
          </a:prstGeom>
          <a:solidFill>
            <a:srgbClr val="EC4899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1A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" y="376732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Container Security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400507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ECR · Trivy · immutable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61488" y="3657600"/>
            <a:ext cx="2359152" cy="1280160"/>
          </a:xfrm>
          <a:prstGeom prst="rect">
            <a:avLst/>
          </a:prstGeom>
          <a:solidFill>
            <a:srgbClr val="111827"/>
          </a:solidFill>
          <a:ln w="10160">
            <a:solidFill>
              <a:srgbClr val="06B6D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852928" y="3749040"/>
            <a:ext cx="384048" cy="384048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852928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E1A"/>
                </a:solidFill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310128" y="376732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10128" y="400507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GuardDuty · alarms · SNS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21808" y="822960"/>
            <a:ext cx="3566160" cy="41879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21808" y="822960"/>
            <a:ext cx="35661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21808" y="98755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5800" dirty="0"/>
          </a:p>
        </p:txBody>
      </p:sp>
      <p:sp>
        <p:nvSpPr>
          <p:cNvPr id="41" name="Text 39"/>
          <p:cNvSpPr/>
          <p:nvPr/>
        </p:nvSpPr>
        <p:spPr>
          <a:xfrm>
            <a:off x="5321808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END-TO-END terraform apply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2331720"/>
            <a:ext cx="3054096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77840" y="24505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42432" y="24140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51 AWS resources created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77840" y="28346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42432" y="27980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EKS v1.30 ACTIVE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77840" y="3218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42432" y="31821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t3.small worker node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77840" y="36027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742432" y="35661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KMS key + auto-rotation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77840" y="39867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42432" y="39502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CloudWatch 5 log types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577840" y="43708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742432" y="43342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EBS encryption default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577840" y="47548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42432" y="47183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GuardDuty ENABLED ✅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 — live cluster evidence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5486400" cy="41879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48640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5376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kubectl output — pods Running · 4 network policies · RBAC active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5413248" cy="38039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70448" y="822960"/>
            <a:ext cx="3017520" cy="41879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70448" y="822960"/>
            <a:ext cx="301752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70448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61888" y="822960"/>
            <a:ext cx="2907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STATUS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61888" y="1234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Node: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76288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ip-10-0-4-165 v1.30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61888" y="1655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backend: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876288" y="16550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 Running ✅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961888" y="20756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frontend: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76288" y="2075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 Running ✅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961888" y="2496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LoadBalancer: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76288" y="2496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a5b76c...amazonaws.com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961888" y="29169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ClusterIP: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76288" y="29169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172.20.241.146:3000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961888" y="3337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Net Policies: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76288" y="3337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active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961888" y="37581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RBAC: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76288" y="37581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app-reader bound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61888" y="4178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Age: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876288" y="4178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days live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961888" y="4599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Restarts: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876288" y="4599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— stable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zero shared credentials, IRSA everywhere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155448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841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AWS IAM Role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10512" y="1069848"/>
            <a:ext cx="228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39112" y="841248"/>
            <a:ext cx="155448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39112" y="841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EKS Access Entry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93592" y="1069848"/>
            <a:ext cx="228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22192" y="841248"/>
            <a:ext cx="155448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2192" y="841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K8s RBAC Group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76672" y="1069848"/>
            <a:ext cx="228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05272" y="841248"/>
            <a:ext cx="155448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05272" y="841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RoleBinding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9752" y="1069848"/>
            <a:ext cx="228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88352" y="841248"/>
            <a:ext cx="155448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88352" y="841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1444752"/>
            <a:ext cx="4206240" cy="352958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1444752"/>
            <a:ext cx="420624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1444752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1444752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BackendSecretsPolicy — least privilege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92224"/>
            <a:ext cx="4133088" cy="141732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47472" y="3273552"/>
            <a:ext cx="4005072" cy="402336"/>
          </a:xfrm>
          <a:prstGeom prst="rect">
            <a:avLst/>
          </a:prstGeom>
          <a:solidFill>
            <a:srgbClr val="050A10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" y="32735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system:serviceaccount:fintech-app:app-backend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84048" y="38313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" y="374904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 action only: secretsmanager:GetSecretValue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84048" y="410565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" y="402336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Scoped to cs581/* path only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84048" y="43799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" y="42976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IRSA — no long-lived keys in pods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84048" y="465429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48640" y="45720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OIDC JWT token exchange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17720" y="1444752"/>
            <a:ext cx="4270248" cy="352958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17720" y="1444752"/>
            <a:ext cx="4270248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617720" y="1444752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709160" y="144475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EKS IAM Access Entries + RBAC</a:t>
            </a:r>
            <a:endParaRPr lang="en-US" sz="10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792224"/>
            <a:ext cx="4197096" cy="9144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736592" y="27797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Kubernetes RBAC: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736592" y="31363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901184" y="305409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app-reader Role: get/list/watch only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736592" y="341071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901184" y="332841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Resources: pods, services, configmaps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736592" y="36850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4901184" y="360273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RoleBinding → default service account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36592" y="395935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4901184" y="387705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Scoped to fintech-app namespace only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pod networking — default deny all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4864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A5A5"/>
                </a:solidFill>
              </a:rPr>
              <a:t>DEFAULT DENY — ingress AND egress in the fintech-app namespace; only DNS allowed to kube-dns.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316736"/>
            <a:ext cx="1828800" cy="475488"/>
          </a:xfrm>
          <a:prstGeom prst="rect">
            <a:avLst/>
          </a:prstGeom>
          <a:solidFill>
            <a:srgbClr val="06B6D4">
              <a:alpha val="85000"/>
            </a:srgbClr>
          </a:solidFill>
          <a:ln w="6350">
            <a:solidFill>
              <a:srgbClr val="06B6D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316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76272" y="1554480"/>
            <a:ext cx="34747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76272" y="13167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</a:rPr>
              <a:t>:8080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23744" y="1316736"/>
            <a:ext cx="1828800" cy="475488"/>
          </a:xfrm>
          <a:prstGeom prst="rect">
            <a:avLst/>
          </a:prstGeom>
          <a:solidFill>
            <a:srgbClr val="10B981">
              <a:alpha val="85000"/>
            </a:srgbClr>
          </a:solidFill>
          <a:ln w="635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23744" y="1316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2544" y="1554480"/>
            <a:ext cx="34747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52544" y="13167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</a:rPr>
              <a:t>:3000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0016" y="1316736"/>
            <a:ext cx="1828800" cy="475488"/>
          </a:xfrm>
          <a:prstGeom prst="rect">
            <a:avLst/>
          </a:prstGeom>
          <a:solidFill>
            <a:srgbClr val="8B5CF6">
              <a:alpha val="85000"/>
            </a:srgbClr>
          </a:solidFill>
          <a:ln w="6350">
            <a:solidFill>
              <a:srgbClr val="8B5CF6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1316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28816" y="1554480"/>
            <a:ext cx="34747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28816" y="13167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:5432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76288" y="1316736"/>
            <a:ext cx="1828800" cy="475488"/>
          </a:xfrm>
          <a:prstGeom prst="rect">
            <a:avLst/>
          </a:prstGeom>
          <a:solidFill>
            <a:srgbClr val="F59E0B">
              <a:alpha val="85000"/>
            </a:srgbClr>
          </a:solidFill>
          <a:ln w="635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76288" y="13167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(DB ready)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1920240"/>
            <a:ext cx="2834640" cy="3017520"/>
          </a:xfrm>
          <a:prstGeom prst="rect">
            <a:avLst/>
          </a:prstGeom>
          <a:solidFill>
            <a:srgbClr val="050A10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1920240"/>
            <a:ext cx="2834640" cy="2377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19933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" y="1993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504" y="19933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NetworkPolicy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24323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26517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default-deny-all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28712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0906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podSelector: {}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3310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policyTypes: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35295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Ingress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749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Egress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" y="1920240"/>
            <a:ext cx="2834640" cy="256032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472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default-deny-all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18688" y="1920240"/>
            <a:ext cx="2834640" cy="3017520"/>
          </a:xfrm>
          <a:prstGeom prst="rect">
            <a:avLst/>
          </a:prstGeom>
          <a:solidFill>
            <a:srgbClr val="050A10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18688" y="1920240"/>
            <a:ext cx="2834640" cy="2377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10128" y="19933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38144" y="1993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566160" y="19933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28416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28416" y="24323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podSelector: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28416" y="26517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 {app: backend}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8712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28416" y="30906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from: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28416" y="3310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podSelector: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328416" y="35295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matchLabels: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28416" y="3749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app: frontend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28416" y="39684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[{port: 3000}]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18688" y="1920240"/>
            <a:ext cx="2834640" cy="256032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10128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allow-frontend-to-backend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81344" y="1920240"/>
            <a:ext cx="2834640" cy="3017520"/>
          </a:xfrm>
          <a:prstGeom prst="rect">
            <a:avLst/>
          </a:prstGeom>
          <a:solidFill>
            <a:srgbClr val="050A10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181344" y="1920240"/>
            <a:ext cx="2834640" cy="2377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72784" y="19933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00800" y="1993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528816" y="19933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91072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91072" y="243230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podSelector: {}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91072" y="26517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egress: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91072" y="28712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ports: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91072" y="30906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protocol: UDP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291072" y="3310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53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291072" y="35295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protocol: TCP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91072" y="3749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port: 53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81344" y="1920240"/>
            <a:ext cx="2834640" cy="256032"/>
          </a:xfrm>
          <a:prstGeom prst="rect">
            <a:avLst/>
          </a:prstGeom>
          <a:solidFill>
            <a:srgbClr val="06B6D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72784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allow-egress-dns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— encryption everywhere, verified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5029200" cy="2240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02920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4919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Secrets Manager — cs581/db-password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4956048" cy="18288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40680" y="822960"/>
            <a:ext cx="3447288" cy="2240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40680" y="822960"/>
            <a:ext cx="3447288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40680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32120" y="8229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Encryption Controls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1243584"/>
            <a:ext cx="3264408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532120" y="1243584"/>
            <a:ext cx="45720" cy="4937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14416" y="1261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KMS Key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14416" y="148132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alias/eks/cs581-secure-cluster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auto-rotation: enabled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532120" y="1810512"/>
            <a:ext cx="3264408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532120" y="1810512"/>
            <a:ext cx="45720" cy="4937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14416" y="18288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EBS Encrypt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614416" y="204825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aws_ebs_encryption_by_default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true (Terraform enforced)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532120" y="2377440"/>
            <a:ext cx="3264408" cy="493776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532120" y="2377440"/>
            <a:ext cx="45720" cy="4937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614416" y="23957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TLS Transit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614416" y="2615184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EKS API: TLS 1.3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ALB: HTTPS termination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56032" y="3200400"/>
            <a:ext cx="8631936" cy="17373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56032" y="3200400"/>
            <a:ext cx="8631936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56032" y="320040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47472" y="3200400"/>
            <a:ext cx="8522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CloudWatch — 24 log streams · 835.6 MB · 26 days · 18,575 audit records</a:t>
            </a:r>
            <a:endParaRPr lang="en-US" sz="10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547872"/>
            <a:ext cx="85587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— Trivy scan + hardened runtime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11480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4114800" cy="34747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nginxinc/nginx-unprivileged:alpine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61872" y="1298448"/>
            <a:ext cx="1828800" cy="1828800"/>
          </a:xfrm>
          <a:prstGeom prst="ellipse">
            <a:avLst/>
          </a:prstGeom>
          <a:solidFill>
            <a:srgbClr val="065F46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61872" y="1298448"/>
            <a:ext cx="1828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261872" y="22311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VULNERABILITIES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236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✅ CLEAN · alpine 3.23.4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822960"/>
            <a:ext cx="461772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26280" y="822960"/>
            <a:ext cx="461772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82296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</a:rPr>
              <a:t>python:3.11-slim (debian 13.4)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298448"/>
            <a:ext cx="1828800" cy="18288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1298448"/>
            <a:ext cx="1828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5943600" y="22311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HIGH CVEs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323697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MONITORED · 0 Critical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703320"/>
            <a:ext cx="411480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3703320"/>
            <a:ext cx="411480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70332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3703320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Pod Security Context (both pods)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19709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" y="4114800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runAsNonRoot: true  ·  runAsUser: 101/1000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447141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" y="4389120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allowPrivilegeEscalation: false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745736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" y="4663440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capabilities.drop: [ALL]  ·  CPU:250m  RAM:128Mi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26280" y="3703320"/>
            <a:ext cx="461772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26280" y="3703320"/>
            <a:ext cx="461772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26280" y="370332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703320"/>
            <a:ext cx="4507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CVEs in python:3.11-slim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1970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82312" y="4114800"/>
            <a:ext cx="4270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libcap2 CVE-2026-4878 HIGH — privilege escalation TOCTOU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44714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82312" y="4389120"/>
            <a:ext cx="4270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jaraco.context CVE-2026-23949 HIGH — path traversal (fixed 6.1.0)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47457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82312" y="4663440"/>
            <a:ext cx="4270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wheel CVE-2026-24049 HIGH — privilege escalation wheel file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see everything, alert on what matters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5303520" cy="2331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30352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CloudWatch Audit Logs — 18,575 records · kube-apiserver-audit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5230368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715000" y="822960"/>
            <a:ext cx="3172968" cy="2331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0" y="822960"/>
            <a:ext cx="3172968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15000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06440" y="82296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GuardDuty ENABLED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1170432"/>
            <a:ext cx="3099816" cy="1920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56032" y="3273552"/>
            <a:ext cx="53035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56032" y="3273552"/>
            <a:ext cx="5303520" cy="329184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56032" y="3273552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47472" y="3273552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GuardDuty EKS Audit Log Monitoring — ENABLED · Free Trial: 30 days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621024"/>
            <a:ext cx="5230368" cy="124358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715000" y="3273552"/>
            <a:ext cx="3172968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715000" y="3273552"/>
            <a:ext cx="3172968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715000" y="3273552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806440" y="327355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Detector ID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806440" y="3675888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f0cf0254fe2e09f6c5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3af60b11b1b116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806440" y="43616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971032" y="4279392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835.6 MB CloudWatch logs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5806440" y="46177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971032" y="4535424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18,575 audit records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806440" y="487375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971032" y="4791456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24 active log streams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5806440" y="51297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5971032" y="5047488"/>
            <a:ext cx="2761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0 GuardDuty findings ✅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9 — SCENARIO 1/3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API access → blocked by IAM + EKS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834640" cy="329184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3075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Fabricated bearer token used against live EKS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6550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kubectl attempted against fintech-app namespace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00253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Goal: enumerate pods, find further attack paths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18688" y="822960"/>
            <a:ext cx="283464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822960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13075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EKS authenticator audit log captures request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0128" y="16550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CloudWatch log: /aws/eks/cs581-secure-cluster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10128" y="20025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401 Unauthorized in API audit trail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1344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81344" y="822960"/>
            <a:ext cx="2834640" cy="329184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MITIGATION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2784" y="13075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37376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IAM authentication rejects all invalid tokens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72784" y="165506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37376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EKS Access Entry: only cs581-admin has access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72784" y="20025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37376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Zero blast radius — cluster never touched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560320"/>
            <a:ext cx="8631936" cy="2423160"/>
          </a:xfrm>
          <a:prstGeom prst="rect">
            <a:avLst/>
          </a:prstGeom>
          <a:solidFill>
            <a:srgbClr val="050A10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2560320"/>
            <a:ext cx="8631936" cy="2377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7472" y="263347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" y="26334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3504" y="26334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2852928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--token='fake-malicious-token' get pods -n fintech-app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30723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3291840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E0411 14:39:56 Unhandled Error: couldn't get current server API group list: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3511296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https://127A02DC...us-east-1.eks.amazonaws.com: context deadline exceeded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3730752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E0411 14:39:57 Unhandled Error: dial tcp 32.194.56.24:443: i/o timeout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3950208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E0411 14:39:59 Unhandled Error: dial tcp 32.194.56.24:443: i/o timeout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" y="416966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5760" y="4389120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You must be logged in to the server (Unauthorized)   ← BLOCKED 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5065776"/>
            <a:ext cx="8631936" cy="256032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7472" y="50657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E7B7"/>
                </a:solidFill>
              </a:rPr>
              <a:t>IAM authentication + EKS Access Entries blocked the attack instantly. Event captured in CloudWatch authenticator logs.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9 — SCENARIO 2/3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attempt → blocked at runtime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834640" cy="329184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3075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Applied evil-pod.yaml with privileged: true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6550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hostPID + hostNetwork + SYS_ADMIN requested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00253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Goal: container escape → host node access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18688" y="822960"/>
            <a:ext cx="283464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822960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13075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Pod entered CrashLoopBackOff immediately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0128" y="16550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1,659 restart attempts — all failed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10128" y="20025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kubectl get events showed security context violation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1344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81344" y="822960"/>
            <a:ext cx="2834640" cy="329184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MITIGATION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2784" y="13075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37376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allowPrivilegeEscalation: false blocked 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72784" y="165506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37376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capabilities.drop: [ALL] removed host access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72784" y="20025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37376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Pod deleted — cluster remained fully secure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560320"/>
            <a:ext cx="8631936" cy="2423160"/>
          </a:xfrm>
          <a:prstGeom prst="rect">
            <a:avLst/>
          </a:prstGeom>
          <a:solidFill>
            <a:srgbClr val="050A10"/>
          </a:solidFill>
          <a:ln w="6350">
            <a:solidFill>
              <a:srgbClr val="1E293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2560320"/>
            <a:ext cx="8631936" cy="2377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47472" y="263347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" y="26334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3504" y="26334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2852928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apply -f evil-pod.yaml   # privileged: true, hostPID: true, SYS_ADMIN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307238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pod/evil-pod created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3291840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3511296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pods -n fintech-app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3730752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evil-pod    0/1     CrashLoopBackOff   1659 (2m22s ago)   ← BLOCKED 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3950208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" y="4169664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delete pod evil-pod -n fintech-app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5760" y="4389120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deleted — cluster remained fully secure throughout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5065776"/>
            <a:ext cx="8631936" cy="256032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7472" y="50657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E7B7"/>
                </a:solidFill>
              </a:rPr>
              <a:t>Defense-in-depth: runtime PSS + capability drop prevented all escalation. Pod deleted after 1,659 failed attempts.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PHASE 9 — SCENARIO 3/3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credential usage → detected by GuardDuty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834640" cy="329184"/>
          </a:xfrm>
          <a:prstGeom prst="rect">
            <a:avLst/>
          </a:prstGeom>
          <a:solidFill>
            <a:srgbClr val="EF4444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32918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3075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AWS root account used to issue API calls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6550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CreateAccessKey with root credentials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00253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High blast radius — root has unlimited access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18688" y="822960"/>
            <a:ext cx="283464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822960"/>
            <a:ext cx="54864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13075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GuardDuty: Policy:IAMUser/RootCredentialUsage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0128" y="16550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Severity HIGH (7.0) — alert within 2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10128" y="20025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CloudWatch alarm → SNS → on-call notification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81344" y="822960"/>
            <a:ext cx="2834640" cy="160020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81344" y="822960"/>
            <a:ext cx="2834640" cy="329184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81344" y="822960"/>
            <a:ext cx="54864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822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2784" y="13075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37376" y="12252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Cease root credential usage immediately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72784" y="165506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37376" y="157276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Use cs581-admin IAM persona instead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72784" y="200253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37376" y="19202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Three-persona model removes any need for root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560320"/>
            <a:ext cx="8631936" cy="2377440"/>
          </a:xfrm>
          <a:prstGeom prst="rect">
            <a:avLst/>
          </a:prstGeom>
          <a:solidFill>
            <a:srgbClr val="050A10"/>
          </a:solidFill>
          <a:ln w="6350">
            <a:solidFill>
              <a:srgbClr val="065F46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2560320"/>
            <a:ext cx="8631936" cy="274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" y="25968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GuardDuty  &gt;  Findings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7472" y="2926080"/>
            <a:ext cx="8449056" cy="1773936"/>
          </a:xfrm>
          <a:prstGeom prst="rect">
            <a:avLst/>
          </a:prstGeom>
          <a:solidFill>
            <a:srgbClr val="111827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8912" y="2999232"/>
            <a:ext cx="731520" cy="31089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8912" y="299923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· 7.0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43584" y="299923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Policy:IAMUser/RootCredentialUsage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5488" y="34198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Resource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19072" y="3419856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AWS::AccountRoot · Account 9XXXXXXXX45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5488" y="36941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Action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719072" y="3694176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AwsApiCall · CreateAccessKey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" y="39684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First seen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19072" y="3968496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2026-04-11 14:21:05 UTC (alert dispatched 2 min later)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" y="424281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Recommendation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719072" y="4242816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Cease using root credentials — use persona IAM roles for all operations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tested and verified end to end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057400" cy="1207008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0574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877824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AWS Resources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Deployed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2057400" cy="1207008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8880" y="82296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877824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68880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Phases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822960"/>
            <a:ext cx="2057400" cy="120700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81728" y="82296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877824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81728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Threat Scenarios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Blocked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94576" y="822960"/>
            <a:ext cx="2057400" cy="1207008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94576" y="822960"/>
            <a:ext cx="20574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94576" y="877824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94576" y="15179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Terraform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IaC Coverage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176272"/>
            <a:ext cx="8631936" cy="29260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2176272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E7B7"/>
                </a:solidFill>
              </a:rPr>
              <a:t>DELIVERABLES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6517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2651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5216" y="25786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VPC + EKS provisioned by Terraform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9744" y="26517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2651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47488" y="25786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Container security (Trivy + PSS)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312724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31272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5216" y="30540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Multi-tier app deployed (26 days live)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9744" y="312724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9744" y="31272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47488" y="30540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 (GuardDuty + CloudWatch)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360273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472" y="360273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5216" y="35295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IAM + RBAC + IRSA configured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9744" y="360273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9744" y="360273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47488" y="35295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Three threat scenarios documented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" y="407822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" y="40782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5216" y="40050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Network + data security enforced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9744" y="407822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9744" y="40782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47488" y="400507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Technical report + GitHub +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</a:rPr>
              <a:t>LESSONS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16736" y="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a real first-time AWS deployment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834640" cy="2011680"/>
          </a:xfrm>
          <a:prstGeom prst="rect">
            <a:avLst/>
          </a:prstGeom>
          <a:solidFill>
            <a:srgbClr val="111827"/>
          </a:solidFill>
          <a:ln w="7620">
            <a:solidFill>
              <a:srgbClr val="06B6D4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834640" cy="420624"/>
          </a:xfrm>
          <a:prstGeom prst="rect">
            <a:avLst/>
          </a:prstGeom>
          <a:solidFill>
            <a:srgbClr val="06B6D4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822960"/>
            <a:ext cx="54864" cy="42062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Non-Root Images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335024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Standard nginx requires root (port 80). Switched to nginx-unprivileged running on port 8080 — mandatory for Pod Security Standards.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834640" cy="2011680"/>
          </a:xfrm>
          <a:prstGeom prst="rect">
            <a:avLst/>
          </a:prstGeom>
          <a:solidFill>
            <a:srgbClr val="111827"/>
          </a:solidFill>
          <a:ln w="762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822960"/>
            <a:ext cx="2834640" cy="420624"/>
          </a:xfrm>
          <a:prstGeom prst="rect">
            <a:avLst/>
          </a:prstGeom>
          <a:solidFill>
            <a:srgbClr val="10B981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822960"/>
            <a:ext cx="54864" cy="4206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8229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EKS Version Drift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1335024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AWS auto-upgraded cluster from v1.29 → v1.30 silently. Terraform detected drift. Always pin and monitor Kubernetes versions in production.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822960"/>
            <a:ext cx="2834640" cy="2011680"/>
          </a:xfrm>
          <a:prstGeom prst="rect">
            <a:avLst/>
          </a:prstGeom>
          <a:solidFill>
            <a:srgbClr val="111827"/>
          </a:solidFill>
          <a:ln w="7620">
            <a:solidFill>
              <a:srgbClr val="F59E0B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1344" y="822960"/>
            <a:ext cx="2834640" cy="420624"/>
          </a:xfrm>
          <a:prstGeom prst="rect">
            <a:avLst/>
          </a:prstGeom>
          <a:solidFill>
            <a:srgbClr val="F59E0B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81344" y="822960"/>
            <a:ext cx="54864" cy="42062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72784" y="8229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Instance Eligibility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1335024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t3.medium rejected — not Free Tier eligible. t3.small was sufficient for this workload. Check instance type eligibility before deploying.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971800"/>
            <a:ext cx="2834640" cy="2011680"/>
          </a:xfrm>
          <a:prstGeom prst="rect">
            <a:avLst/>
          </a:prstGeom>
          <a:solidFill>
            <a:srgbClr val="111827"/>
          </a:solidFill>
          <a:ln w="7620">
            <a:solidFill>
              <a:srgbClr val="8B5CF6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971800"/>
            <a:ext cx="2834640" cy="420624"/>
          </a:xfrm>
          <a:prstGeom prst="rect">
            <a:avLst/>
          </a:prstGeom>
          <a:solidFill>
            <a:srgbClr val="8B5CF6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2971800"/>
            <a:ext cx="54864" cy="42062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29718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Account Activation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483864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GuardDuty requires full AWS account activation. Start setup 24-48h before deployment. GuardDuty eventually enabled successfully.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2971800"/>
            <a:ext cx="2834640" cy="2011680"/>
          </a:xfrm>
          <a:prstGeom prst="rect">
            <a:avLst/>
          </a:prstGeom>
          <a:solidFill>
            <a:srgbClr val="111827"/>
          </a:solidFill>
          <a:ln w="7620">
            <a:solidFill>
              <a:srgbClr val="EC4899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18688" y="2971800"/>
            <a:ext cx="2834640" cy="420624"/>
          </a:xfrm>
          <a:prstGeom prst="rect">
            <a:avLst/>
          </a:prstGeom>
          <a:solidFill>
            <a:srgbClr val="EC4899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18688" y="2971800"/>
            <a:ext cx="54864" cy="4206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0128" y="29718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Terraform Idempotency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8416" y="3483864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Network drops during apply caused partial state. Re-running terraform apply safely continues — IaC resilience proven in practice.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81344" y="2971800"/>
            <a:ext cx="2834640" cy="2011680"/>
          </a:xfrm>
          <a:prstGeom prst="rect">
            <a:avLst/>
          </a:prstGeom>
          <a:solidFill>
            <a:srgbClr val="111827"/>
          </a:solidFill>
          <a:ln w="7620">
            <a:solidFill>
              <a:srgbClr val="10B981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81344" y="2971800"/>
            <a:ext cx="2834640" cy="420624"/>
          </a:xfrm>
          <a:prstGeom prst="rect">
            <a:avLst/>
          </a:prstGeom>
          <a:solidFill>
            <a:srgbClr val="10B981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81344" y="2971800"/>
            <a:ext cx="54864" cy="4206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72784" y="29718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Defense in Depth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91072" y="3483864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No single control stops every attack. IAM + RBAC + Network Policy + PSS + Encryption together blocked all 3 threat scenarios.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743200"/>
            <a:ext cx="3657600" cy="3657600"/>
          </a:xfrm>
          <a:prstGeom prst="ellipse">
            <a:avLst/>
          </a:prstGeom>
          <a:solidFill>
            <a:srgbClr val="065F46">
              <a:alpha val="10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41148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QUESTIONS?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896112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1371600" y="2029968"/>
            <a:ext cx="64008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075688"/>
            <a:ext cx="640080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53896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53896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53896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04872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04872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04872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55848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06824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06824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06824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57800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08776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9752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59752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9752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10728" y="2212848"/>
            <a:ext cx="786384" cy="640080"/>
          </a:xfrm>
          <a:prstGeom prst="rect">
            <a:avLst/>
          </a:prstGeom>
          <a:solidFill>
            <a:srgbClr val="065F46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10728" y="221284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</a:rPr>
              <a:t>P9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10728" y="248716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0358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B6D4"/>
                </a:solidFill>
              </a:rPr>
              <a:t>Repository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57400" y="3035808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github.com/ampomaahabigail76-spec/cs581-secure-eks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34381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Technical report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057400" y="3438144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docs/CS581_Technical_Report.docx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38404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057400" y="3840480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docs/CS581_Architecture_Diagram.xml (Draw.io)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424281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EE7B7"/>
                </a:solidFill>
              </a:rPr>
              <a:t>Cluster (live)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057400" y="4242816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cs581-secure-cluster · us-east-1 · EKS v1.30 · account 552823820626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46451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Demo video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057400" y="4645152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(link — see GitHub README)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6032" y="477316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Abigail Ampomaah  ·  CS581 Cloud Security  ·  San Francisco Bay University  · 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1843</Words>
  <Application>Microsoft Office PowerPoint</Application>
  <PresentationFormat>On-screen Show (16:9)</PresentationFormat>
  <Paragraphs>405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CS581 Secure EKS — Abigail Ampomaah</dc:title>
  <dc:subject>PptxGenJS Presentation</dc:subject>
  <dc:creator>PptxGenJS</dc:creator>
  <cp:lastModifiedBy>Abigail Ampomaah</cp:lastModifiedBy>
  <cp:revision>1</cp:revision>
  <dcterms:created xsi:type="dcterms:W3CDTF">2026-05-07T23:32:20Z</dcterms:created>
  <dcterms:modified xsi:type="dcterms:W3CDTF">2026-05-08T00:04:05Z</dcterms:modified>
</cp:coreProperties>
</file>