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548640"/>
            <a:ext cx="2011680" cy="2011680"/>
          </a:xfrm>
          <a:prstGeom prst="ellipse">
            <a:avLst/>
          </a:prstGeom>
          <a:solidFill>
            <a:srgbClr val="2E5BFF">
              <a:alpha val="15000"/>
            </a:srgbClr>
          </a:solidFill>
          <a:ln w="12700">
            <a:solidFill>
              <a:srgbClr val="2E5B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91440"/>
            <a:ext cx="1280160" cy="128016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2E5B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CS581 — Cloud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Cloud-Native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on AWS EKS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</a:rPr>
              <a:t>Design · Implementation · Security Hardening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063240"/>
            <a:ext cx="4114800" cy="0"/>
          </a:xfrm>
          <a:prstGeom prst="line">
            <a:avLst/>
          </a:prstGeom>
          <a:noFill/>
          <a:ln w="19050">
            <a:solidFill>
              <a:srgbClr val="2E5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Student: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Abigail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  |  Course: CS581  |  April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794760"/>
            <a:ext cx="5029200" cy="548640"/>
          </a:xfrm>
          <a:prstGeom prst="rect">
            <a:avLst/>
          </a:prstGeom>
          <a:solidFill>
            <a:srgbClr val="2E5B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794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Cluster: cs581-secure-cluster  |  Account: 552823820626  |  Region: us-east-1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7772400" y="3291840"/>
            <a:ext cx="1005840" cy="1097280"/>
          </a:xfrm>
          <a:prstGeom prst="homePlate">
            <a:avLst/>
          </a:prstGeom>
          <a:solidFill>
            <a:srgbClr val="2E5BFF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3520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Presentation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029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47"/>
                </a:solidFill>
              </a:rPr>
              <a:t>Project Overview &amp; Scenario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904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Fintech startup | Security requirements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57400"/>
            <a:ext cx="5029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57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47"/>
                </a:solidFill>
              </a:rPr>
              <a:t>Architecture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VPC | EKS | Multi-tier layout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5029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47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107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Terraform IaC | EKS deployment | App deployment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77640"/>
            <a:ext cx="5029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9776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47"/>
                </a:solidFill>
              </a:rPr>
              <a:t>Security Controls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708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IAM | RBAC | Network Policies | Encryption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5029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14300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47"/>
                </a:solidFill>
              </a:rPr>
              <a:t>Container &amp; Data Security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4904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Trivy scanning | Secrets Manager | EBS encryption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05740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57400"/>
            <a:ext cx="5029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057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1031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47"/>
                </a:solidFill>
              </a:rPr>
              <a:t>Monitoring &amp; Threat Simulation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4505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CloudWatch | GuardDuty | 2 attack scenarios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017520"/>
            <a:ext cx="4206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017520"/>
            <a:ext cx="5029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30632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47"/>
                </a:solidFill>
              </a:rPr>
              <a:t>Demo &amp; Lessons Learned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4107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Live cluster | Key takeaways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Scenario: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You are a Cloud Security Engineer hired to deploy a secure microservices app for a fintech startup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743200" cy="45720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  Deployed on AWS EKS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C47"/>
                </a:solidFill>
              </a:rPr>
              <a:t>Kubernetes-managed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1C47"/>
                </a:solidFill>
              </a:rPr>
              <a:t>container orchestration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Handle Sensitive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C47"/>
                </a:solidFill>
              </a:rPr>
              <a:t>Encryption at rest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1C47"/>
                </a:solidFill>
              </a:rPr>
              <a:t>and in transit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9202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920240"/>
            <a:ext cx="2743200" cy="4572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  Resilient &amp; Compliant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C47"/>
                </a:solidFill>
              </a:rPr>
              <a:t>Least privilege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1C47"/>
                </a:solidFill>
              </a:rPr>
              <a:t>Defense in depth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114800"/>
            <a:ext cx="201168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</a:rPr>
              <a:t>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004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Project Phases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4114800"/>
            <a:ext cx="201168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46888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Deliverables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4114800"/>
            <a:ext cx="201168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</a:rPr>
              <a:t>100%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1772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Terraform IaC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4114800"/>
            <a:ext cx="2011680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4114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</a:rPr>
              <a:t>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6656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Threat Scenarios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Phase 1 &amp; 2 — Architecture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303520" cy="3886200"/>
          </a:xfrm>
          <a:prstGeom prst="rect">
            <a:avLst/>
          </a:prstGeom>
          <a:solidFill>
            <a:srgbClr val="F0F4FF"/>
          </a:solidFill>
          <a:ln w="19050">
            <a:solidFill>
              <a:srgbClr val="2E5BFF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BFF"/>
                </a:solidFill>
              </a:rPr>
              <a:t>VPC: 10.0.0.0/16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029200" cy="86868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400"/>
                </a:solidFill>
              </a:rPr>
              <a:t>Public Subnets (10.0.1.0/24 | 10.0.2.0/24)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Internet GW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27632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6276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NAT Gateway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1627632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2763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Load Balancer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627632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59152"/>
            <a:ext cx="5029200" cy="237744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77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EAF"/>
                </a:solidFill>
              </a:rPr>
              <a:t>Private Subnets (10.0.3.0/24 | 10.0.4.0/24) — No direct internet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651760"/>
            <a:ext cx="4754880" cy="1920240"/>
          </a:xfrm>
          <a:prstGeom prst="rect">
            <a:avLst/>
          </a:prstGeom>
          <a:solidFill>
            <a:srgbClr val="FFF9D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700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C47"/>
                </a:solidFill>
              </a:rPr>
              <a:t>EKS Worker Node — t3.small (Kubernetes v1.30)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2962656"/>
            <a:ext cx="2194560" cy="1417320"/>
          </a:xfrm>
          <a:prstGeom prst="rect">
            <a:avLst/>
          </a:prstGeom>
          <a:solidFill>
            <a:srgbClr val="D5E8D4"/>
          </a:solidFill>
          <a:ln w="6350">
            <a:solidFill>
              <a:srgbClr val="82B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62656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Frontend Pod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nginx-unprivileged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Port 8080 | Non-root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3240" y="2962656"/>
            <a:ext cx="2194560" cy="1417320"/>
          </a:xfrm>
          <a:prstGeom prst="rect">
            <a:avLst/>
          </a:prstGeom>
          <a:solidFill>
            <a:srgbClr val="D5E8D4"/>
          </a:solidFill>
          <a:ln w="6350">
            <a:solidFill>
              <a:srgbClr val="82B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962656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Backend Pod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python:3.11-slim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41C47"/>
                </a:solidFill>
              </a:rPr>
              <a:t>Port 3000 | Non-root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98648" y="3666744"/>
            <a:ext cx="164592" cy="0"/>
          </a:xfrm>
          <a:prstGeom prst="line">
            <a:avLst/>
          </a:prstGeom>
          <a:noFill/>
          <a:ln w="19050">
            <a:solidFill>
              <a:srgbClr val="2E5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1005840"/>
            <a:ext cx="3017520" cy="3886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97880" y="10241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AWS Security Services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137160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▸  KMS — Secret encryption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1938528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19385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▸  CloudWatch — Audit logs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2505456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0" y="25054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▸  Secrets Manager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97880" y="3072384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0" y="30723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▸  IAM — Least privilege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97880" y="3639312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3639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▸  GuardDuty — Threat detect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7880" y="420624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▸  IRSA via OIDC Provider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Phase 2 &amp; 3 — Implementation with Terraform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Terraform Files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2560320" cy="502920"/>
          </a:xfrm>
          <a:prstGeom prst="rect">
            <a:avLst/>
          </a:prstGeom>
          <a:solidFill>
            <a:srgbClr val="EB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196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Provider config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176272"/>
            <a:ext cx="2560320" cy="502920"/>
          </a:xfrm>
          <a:prstGeom prst="rect">
            <a:avLst/>
          </a:prstGeom>
          <a:solidFill>
            <a:srgbClr val="EB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vpc.tf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41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VPC · Subnets · NAT · IGW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798064"/>
            <a:ext cx="2560320" cy="502920"/>
          </a:xfrm>
          <a:prstGeom prst="rect">
            <a:avLst/>
          </a:prstGeom>
          <a:solidFill>
            <a:srgbClr val="EB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1635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eks.tf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EKS cluster · Node groups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2560320" cy="502920"/>
          </a:xfrm>
          <a:prstGeom prst="rect">
            <a:avLst/>
          </a:prstGeom>
          <a:solidFill>
            <a:srgbClr val="EB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3814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iam.tf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85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Policies · EBS encryption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041648"/>
            <a:ext cx="2560320" cy="502920"/>
          </a:xfrm>
          <a:prstGeom prst="rect">
            <a:avLst/>
          </a:prstGeom>
          <a:solidFill>
            <a:srgbClr val="EBF3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5993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variables.tf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068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Region · Cluster name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51560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051560"/>
            <a:ext cx="2743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K8s Manifests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1554480"/>
            <a:ext cx="2560320" cy="502920"/>
          </a:xfrm>
          <a:prstGeom prst="rect">
            <a:avLst/>
          </a:prstGeom>
          <a:solidFill>
            <a:srgbClr val="E6FA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7276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frontend/deployment.yaml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181965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nginx-unprivileged · LoadBalancer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2176272"/>
            <a:ext cx="2560320" cy="502920"/>
          </a:xfrm>
          <a:prstGeom prst="rect">
            <a:avLst/>
          </a:prstGeom>
          <a:solidFill>
            <a:srgbClr val="E6FA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19456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backend/deployment.yaml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24414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python:3.11 · ClusterIP · Secret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2798064"/>
            <a:ext cx="2560320" cy="502920"/>
          </a:xfrm>
          <a:prstGeom prst="rect">
            <a:avLst/>
          </a:prstGeom>
          <a:solidFill>
            <a:srgbClr val="E6FA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1635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rbac/rbac.yaml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3063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Role · RoleBinding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3419856"/>
            <a:ext cx="2560320" cy="502920"/>
          </a:xfrm>
          <a:prstGeom prst="rect">
            <a:avLst/>
          </a:prstGeom>
          <a:solidFill>
            <a:srgbClr val="E6FA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43814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network-policies/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36850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Default-deny + allow rules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4041648"/>
            <a:ext cx="2560320" cy="502920"/>
          </a:xfrm>
          <a:prstGeom prst="rect">
            <a:avLst/>
          </a:prstGeom>
          <a:solidFill>
            <a:srgbClr val="E6FA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405993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Secret: db-secret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43068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Opaque · Encrypted at rest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105156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1051560"/>
            <a:ext cx="2560320" cy="4114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Results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55080" y="159105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51 AWS resources created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217627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2139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EKS v1.30 cluster ACTIVE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55080" y="276148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662940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1 worker node Ready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334670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6629400" y="33101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Frontend pod Running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55080" y="393192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6629400" y="38953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Backend pod Running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55080" y="451713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4" name="Text 52"/>
          <p:cNvSpPr/>
          <p:nvPr/>
        </p:nvSpPr>
        <p:spPr>
          <a:xfrm>
            <a:off x="6629400" y="4480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LoadBalancer URL live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Phases 4 &amp; 5 — IAM, RBAC &amp; Network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251960" cy="45720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 IAM Least Privilege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" y="1600200"/>
            <a:ext cx="128016" cy="12801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BackendSecretsPolicy: only secretsmanager:GetSecretValue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929384"/>
            <a:ext cx="128016" cy="12801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83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Scoped to cs581/* path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258568"/>
            <a:ext cx="128016" cy="12801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12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IRSA via OIDC Provider — no long-lived keys in pods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2587752"/>
            <a:ext cx="128016" cy="128016"/>
          </a:xfrm>
          <a:prstGeom prst="ellipse">
            <a:avLst/>
          </a:prstGeom>
          <a:solidFill>
            <a:srgbClr val="2E5B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420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EKS Access Entry with AmazonEKSClusterAdminPolicy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51560"/>
            <a:ext cx="42519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515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Kubernetes RBAC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19472" y="160020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app-reader Role: get/list/watch only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9472" y="192938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883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Resources: pods, services, configmaps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19472" y="225856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212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RoleBinding to default ServiceAccount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9472" y="258775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5420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Namespace-scoped: fintech-app only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06324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63240"/>
            <a:ext cx="4251960" cy="4572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0632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Network Policies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" y="3611880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566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default-deny-all: block all ingress/egress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" y="3941064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8953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allow-frontend-ingress: port 8080 only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" y="4270248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224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allow-frontend-to-backend: port 3000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" y="4599432"/>
            <a:ext cx="128016" cy="1280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553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allow-egress-dns: UDP/TCP 53 + HTTPS 443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063240"/>
            <a:ext cx="4251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63240"/>
            <a:ext cx="4251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0632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  Security Groups &amp; VPC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19472" y="36118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566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Worker nodes in private subnets only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19472" y="394106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89534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No direct internet inbound to nodes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19472" y="427024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5120640" y="42245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NAT Gateway: outbound-only egress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19472" y="459943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5120640" y="4553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Security Groups: kubelet, webhook, API ports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Phases 6 &amp; 7 — Data Security &amp; Container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🔒  Data Security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44752"/>
            <a:ext cx="73152" cy="749808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90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C47"/>
                </a:solidFill>
              </a:rPr>
              <a:t>KMS Encryption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EKS secrets encrypted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alias/eks/cs581-secure-cluster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13432"/>
            <a:ext cx="73152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591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C47"/>
                </a:solidFill>
              </a:rPr>
              <a:t>EBS Encryption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aws_ebs_encryption_by_default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enabled for all volumes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8211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82112"/>
            <a:ext cx="73152" cy="7498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27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C47"/>
                </a:solidFill>
              </a:rPr>
              <a:t>Secrets 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cs581/db-password stored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IRSA-based pod access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050792"/>
            <a:ext cx="4251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050792"/>
            <a:ext cx="73152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96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C47"/>
                </a:solidFill>
              </a:rPr>
              <a:t>TLS in Transit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89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EKS API + LoadBalancer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TLS 1.2+ enforced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0058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🐳  Container Security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444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47"/>
                </a:solidFill>
              </a:rPr>
              <a:t>Trivy Vulnerability Scan Results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737360"/>
          <a:ext cx="3977640" cy="868680"/>
        </p:xfrm>
        <a:graphic>
          <a:graphicData uri="http://schemas.openxmlformats.org/drawingml/2006/table">
            <a:tbl>
              <a:tblPr/>
              <a:tblGrid>
                <a:gridCol w="1737360"/>
                <a:gridCol w="594360"/>
                <a:gridCol w="594360"/>
                <a:gridCol w="105156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nginx-unprivileged:alpine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5803D"/>
                          </a:solidFill>
                        </a:rPr>
                        <a:t>✅ Safe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python:3.11-slim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</a:rPr>
                        <a:t>⚠ Monitored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754880" y="2743200"/>
            <a:ext cx="40690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2743200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4"/>
          <p:cNvSpPr/>
          <p:nvPr/>
        </p:nvSpPr>
        <p:spPr>
          <a:xfrm>
            <a:off x="4754880" y="27432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Pod Security Standards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846320" y="317296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5074920" y="31363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runAsNonRoot: true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350215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5074920" y="34655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runAsUser: 101 (nginx) / 1000 (python)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46320" y="3831336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0"/>
          <p:cNvSpPr/>
          <p:nvPr/>
        </p:nvSpPr>
        <p:spPr>
          <a:xfrm>
            <a:off x="5074920" y="37947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allowPrivilegeEscalation: false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46320" y="416052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5074920" y="41239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capabilities.drop: [ALL]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46320" y="4489704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5074920" y="4453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Resource limits: CPU 250m | Memory 128Mi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Phases 8 &amp; 9 — Monitoring &amp; Threat Simulation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Phase 8: Monitoring &amp; Logging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904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▸  CloudWatch: api, audit, authenticator, controllerManager, scheduler logs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▸  Log group: /aws/eks/cs581-secure-cluster/cluster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▸  GuardDuty: configured for EKS runtime protection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▸  Detects: unauthorized access, privilege escalation, cryptomining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26080"/>
            <a:ext cx="393192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 Scenario 1: Unauthorized Token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107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47"/>
                </a:solidFill>
              </a:rPr>
              <a:t>Simulation: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39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--token=fake-malicious-token get pods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47"/>
                </a:solidFill>
              </a:rPr>
              <a:t>Result: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</a:rPr>
              <a:t>Error: You must be logged in to the server (Unauthorized) 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Mitigation: IAM auth + EKS Access Entries block all invalid tokens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251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2519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005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🚨  Scenario 2: Privileged Container Escalation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15087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47"/>
                </a:solidFill>
              </a:rPr>
              <a:t>Simulation: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1764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Applied evil-pod with privileged: true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3931920" cy="54864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pod/evil-pod → CrashLoopBackOff (1659 restarts)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697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47"/>
                </a:solidFill>
              </a:rPr>
              <a:t>Detection: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953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kubectl get events → security context violation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3291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C47"/>
                </a:solidFill>
              </a:rPr>
              <a:t>Mitigation: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93592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4956048" y="35570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allowPrivilegeEscalation: false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941064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39044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capabilities.drop: [ALL]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288536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4956048" y="4251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47"/>
                </a:solidFill>
              </a:rPr>
              <a:t>Pod deleted — cluster secure 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4480560"/>
            <a:ext cx="3931920" cy="274320"/>
          </a:xfrm>
          <a:prstGeom prst="rect">
            <a:avLst/>
          </a:prstGeom>
          <a:solidFill>
            <a:srgbClr val="F0FFF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Defense-in-depth: blocked at container runtime level ✅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C4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Lessons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88920" cy="45720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Non-Root Container Images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5819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nginx:alpine requires root (port 80). Switched to nginx-unprivileged:alpine binding to port 8080 — critical for Pod Security Standards compliance.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EKS Version Drift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5819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AWS auto-upgraded cluster from v1.29 to v1.30. Terraform detected drift — always pin and monitor Kubernetes versions in production.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88920" cy="4572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51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Instance Type Selection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t3.medium rejected (not Free Tier eligible). t3.small worked fine for the workload — always check instance eligibility before deployment.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2788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Account Activation Timing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" y="35478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GuardDuty requires full account activation. Start account setup 24-48 hours before project deployment to avoid service restrictions.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17520"/>
            <a:ext cx="2788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Terraform Idempotency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5478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Network drops during apply caused partial state. Re-running terraform apply safely continued from last known state — IaC resilience in practice.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301752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17520"/>
            <a:ext cx="27889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Defense in Depth Works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928" y="35478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1C47"/>
                </a:solidFill>
              </a:rPr>
              <a:t>No single control is enough. IAM + RBAC + Network Policy + Pod Security + Encryption = overlapping layers that successfully blocked both attack scenarios.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E5BFF">
              <a:alpha val="12000"/>
            </a:srgbClr>
          </a:solidFill>
          <a:ln w="12700">
            <a:solidFill>
              <a:srgbClr val="2E5B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Project Complete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All 9 Phases Implemented 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89888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EKS Cluster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22576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22576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App Deploy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55264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IAM &amp; RBAC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87952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87952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Network Sec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20640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Data Security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53328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53328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53328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Container Sec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986016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6016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Monitoring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918704" y="1508760"/>
            <a:ext cx="804672" cy="685800"/>
          </a:xfrm>
          <a:prstGeom prst="rect">
            <a:avLst/>
          </a:prstGeom>
          <a:solidFill>
            <a:srgbClr val="15803D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18704" y="1527048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18704" y="18196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</a:rPr>
              <a:t>Threat Sim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31520" y="2423160"/>
            <a:ext cx="1737360" cy="1097280"/>
          </a:xfrm>
          <a:prstGeom prst="rect">
            <a:avLst/>
          </a:prstGeom>
          <a:solidFill>
            <a:srgbClr val="2E5BFF">
              <a:alpha val="25000"/>
            </a:srgbClr>
          </a:solidFill>
          <a:ln w="12700">
            <a:solidFill>
              <a:srgbClr val="2E5B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4505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51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3152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AWS Resources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Deployed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0" y="2423160"/>
            <a:ext cx="1737360" cy="1097280"/>
          </a:xfrm>
          <a:prstGeom prst="rect">
            <a:avLst/>
          </a:prstGeom>
          <a:solidFill>
            <a:srgbClr val="2E5BFF">
              <a:alpha val="25000"/>
            </a:srgbClr>
          </a:solidFill>
          <a:ln w="12700">
            <a:solidFill>
              <a:srgbClr val="2E5BF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24505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274320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Security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Phases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2423160"/>
            <a:ext cx="1737360" cy="1097280"/>
          </a:xfrm>
          <a:prstGeom prst="rect">
            <a:avLst/>
          </a:prstGeom>
          <a:solidFill>
            <a:srgbClr val="2E5BFF">
              <a:alpha val="25000"/>
            </a:srgbClr>
          </a:solidFill>
          <a:ln w="12700">
            <a:solidFill>
              <a:srgbClr val="2E5BFF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4505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475488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Threats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Blocked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66560" y="2423160"/>
            <a:ext cx="1737360" cy="1097280"/>
          </a:xfrm>
          <a:prstGeom prst="rect">
            <a:avLst/>
          </a:prstGeom>
          <a:solidFill>
            <a:srgbClr val="2E5BFF">
              <a:alpha val="25000"/>
            </a:srgbClr>
          </a:solidFill>
          <a:ln w="12700">
            <a:solidFill>
              <a:srgbClr val="2E5BFF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24505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100%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766560" y="29992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Terraform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IaC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2E5BF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cs581-secure-cluster  |  us-east-1  |  EKS v1.30  |  Account: 552823820626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Cloud-Native Application on AWS EKS</dc:title>
  <dc:subject>PptxGenJS Presentation</dc:subject>
  <dc:creator>CS581</dc:creator>
  <cp:lastModifiedBy>CS581</cp:lastModifiedBy>
  <cp:revision>1</cp:revision>
  <dcterms:created xsi:type="dcterms:W3CDTF">2026-04-17T20:07:30Z</dcterms:created>
  <dcterms:modified xsi:type="dcterms:W3CDTF">2026-04-17T20:07:30Z</dcterms:modified>
</cp:coreProperties>
</file>